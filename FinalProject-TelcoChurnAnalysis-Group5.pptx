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989"/>
    <a:srgbClr val="04294E"/>
    <a:srgbClr val="101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59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B3D59"/>
                </a:solidFill>
                <a:latin typeface="Arial"/>
              </a:rPr>
              <a:t>Validation AUC-ROC by Model (target: 0.80)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AUC-ROC</c:v>
                </c:pt>
              </c:strCache>
            </c:strRef>
          </c:tx>
          <c:spPr>
            <a:solidFill>
              <a:srgbClr val="1693A5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B3D5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0.84260000000000002</c:v>
                </c:pt>
                <c:pt idx="1">
                  <c:v>0.82899999999999996</c:v>
                </c:pt>
                <c:pt idx="2">
                  <c:v>0.82240000000000002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08-F94E-AD8C-D007FE4870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8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59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3D59"/>
                </a:solidFill>
                <a:latin typeface="Arial"/>
              </a:rPr>
              <a:t>Decreases Churn Risk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Decreases Churn Risk</c:v>
                </c:pt>
              </c:strCache>
            </c:strRef>
          </c:tx>
          <c:spPr>
            <a:solidFill>
              <a:srgbClr val="4C9A6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tenure</c:v>
                </c:pt>
                <c:pt idx="1">
                  <c:v>2-yr
contract</c:v>
                </c:pt>
                <c:pt idx="2">
                  <c:v>support
services</c:v>
                </c:pt>
                <c:pt idx="3">
                  <c:v>DSL</c:v>
                </c:pt>
                <c:pt idx="4">
                  <c:v>tenure
13-24mo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-1.389</c:v>
                </c:pt>
                <c:pt idx="1">
                  <c:v>-0.80300000000000005</c:v>
                </c:pt>
                <c:pt idx="2">
                  <c:v>-0.497</c:v>
                </c:pt>
                <c:pt idx="3">
                  <c:v>-0.50600000000000001</c:v>
                </c:pt>
                <c:pt idx="4">
                  <c:v>-0.41499999999999998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EA-754C-881C-0EE7D756D24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59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3D59"/>
                </a:solidFill>
                <a:latin typeface="Arial"/>
              </a:rPr>
              <a:t>Increases Churn Risk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Increases Churn Risk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B3D5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Month-
to-month</c:v>
                </c:pt>
                <c:pt idx="1">
                  <c:v>Fiber
optic</c:v>
                </c:pt>
                <c:pt idx="2">
                  <c:v>Total
Charges</c:v>
                </c:pt>
                <c:pt idx="3">
                  <c:v>Paperless
billing</c:v>
                </c:pt>
                <c:pt idx="4">
                  <c:v>tenure
49-72mo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0.64</c:v>
                </c:pt>
                <c:pt idx="1">
                  <c:v>0.53400000000000003</c:v>
                </c:pt>
                <c:pt idx="2">
                  <c:v>0.51200000000000001</c:v>
                </c:pt>
                <c:pt idx="3">
                  <c:v>0.36699999999999999</c:v>
                </c:pt>
                <c:pt idx="4">
                  <c:v>0.34499999999999997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76-9941-BD3A-7CF7E0DE35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11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rial"/>
              </a:rPr>
              <a:t>Telco Churn Analytics</a:t>
            </a:r>
          </a:p>
        </p:txBody>
      </p:sp>
      <p:sp>
        <p:nvSpPr>
          <p:cNvPr id="5" name="Shape 3"/>
          <p:cNvSpPr/>
          <p:nvPr/>
        </p:nvSpPr>
        <p:spPr>
          <a:xfrm>
            <a:off x="635558" y="2003871"/>
            <a:ext cx="640080" cy="640080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a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79" y="2123656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638" y="216018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TeleRetain Analytics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Prediction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MLOps Pipeline — From Raw Data to a Production-Ready, Fairness-Audited Model</a:t>
            </a:r>
            <a:endParaRPr lang="en-US" sz="24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2001" name="Footer"/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1 of 15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B726EB3-AACA-F6CD-DCD2-3A14A4F27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LatoWeb"/>
              </a:rPr>
              <a:t>True or False. Model Stores can help teams with model governance.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334451"/>
                </a:solidFill>
                <a:effectLst/>
                <a:latin typeface="LatoWeb"/>
              </a:rPr>
              <a:t>True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334451"/>
                </a:solidFill>
                <a:effectLst/>
                <a:latin typeface="LatoWeb"/>
              </a:rPr>
              <a:t>False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449CCF4-CEBA-9038-8648-CD81303835BB}"/>
              </a:ext>
            </a:extLst>
          </p:cNvPr>
          <p:cNvSpPr/>
          <p:nvPr/>
        </p:nvSpPr>
        <p:spPr>
          <a:xfrm>
            <a:off x="801979" y="5166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solidFill>
                <a:schemeClr val="accent1">
                  <a:lumMod val="2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2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-540 – Group 5</a:t>
            </a:r>
          </a:p>
          <a:p>
            <a:r>
              <a:rPr lang="en-US" sz="2400" dirty="0">
                <a:solidFill>
                  <a:schemeClr val="accent1">
                    <a:lumMod val="25000"/>
                  </a:schemeClr>
                </a:solidFill>
                <a:latin typeface="Calibri" pitchFamily="34" charset="0"/>
                <a:cs typeface="Calibri" pitchFamily="34" charset="-120"/>
              </a:rPr>
              <a:t>Neha Pandey</a:t>
            </a:r>
            <a:endParaRPr lang="en-US" sz="2400" dirty="0">
              <a:solidFill>
                <a:schemeClr val="accent1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problem to a fairness-audited, deployed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47208" cy="1417320"/>
          </a:xfrm>
          <a:prstGeom prst="roundRect">
            <a:avLst>
              <a:gd name="adj" fmla="val 5161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aExclamation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226423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2258568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prediction, and what success looks like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78728" y="1691640"/>
            <a:ext cx="5547208" cy="1417320"/>
          </a:xfrm>
          <a:prstGeom prst="roundRect">
            <a:avLst>
              <a:gd name="adj" fmla="val 5161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07328" y="2116836"/>
            <a:ext cx="566928" cy="566928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Fa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729" y="226423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38848" y="187452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 Engineering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38848" y="2258568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customers, cleaned and enriched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256361"/>
            <a:ext cx="5547208" cy="1417320"/>
          </a:xfrm>
          <a:prstGeom prst="roundRect">
            <a:avLst>
              <a:gd name="adj" fmla="val 5161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3671316"/>
            <a:ext cx="566928" cy="566928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Fa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381871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42900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Selection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3813048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candidates, one surprising winner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78728" y="3246120"/>
            <a:ext cx="5547208" cy="1417320"/>
          </a:xfrm>
          <a:prstGeom prst="roundRect">
            <a:avLst>
              <a:gd name="adj" fmla="val 5161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07328" y="3671316"/>
            <a:ext cx="566928" cy="566928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FaBalanceSca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4729" y="381871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38848" y="342900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38848" y="3813048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disparity finding — and what we did about it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5547208" cy="1417320"/>
          </a:xfrm>
          <a:prstGeom prst="roundRect">
            <a:avLst>
              <a:gd name="adj" fmla="val 5161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77240" y="5225796"/>
            <a:ext cx="566928" cy="566928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FaServ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641" y="5373197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98348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425366" y="5367528"/>
            <a:ext cx="4441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inference, drift detection, CI/CD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278728" y="4800600"/>
            <a:ext cx="5547208" cy="1417320"/>
          </a:xfrm>
          <a:prstGeom prst="roundRect">
            <a:avLst>
              <a:gd name="adj" fmla="val 5161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507328" y="5225796"/>
            <a:ext cx="566928" cy="566928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icons/FaCloudUploadA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4729" y="5373197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38848" y="498348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Implementation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238848" y="5367528"/>
            <a:ext cx="435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pipeline, on managed infrastructure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Footer">
            <a:extLst>
              <a:ext uri="{FF2B5EF4-FFF2-40B4-BE49-F238E27FC236}">
                <a16:creationId xmlns:a16="http://schemas.microsoft.com/office/drawing/2014/main" id="{88E12F68-71B9-8E8D-C872-9A78B2569CEB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</a:t>
            </a: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retention is too late — and too expensive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</a:t>
            </a:r>
            <a:r>
              <a:rPr lang="en-US" sz="1600" b="1" dirty="0">
                <a:solidFill>
                  <a:srgbClr val="C9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5-10x</a:t>
            </a:r>
            <a:r>
              <a:rPr lang="en-US" sz="16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than retaining one. Today, retention outreach happens only </a:t>
            </a:r>
            <a:r>
              <a:rPr lang="en-US" sz="1600" i="1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r>
              <a:rPr lang="en-US" sz="16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customer has already filed a cancellation — by then, the decision is final.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</a:t>
            </a:r>
            <a:r>
              <a:rPr lang="en-US" sz="16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active customer's churn risk before they leave, so a limited retention budget reaches the right people first.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69164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0" y="1801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326880" y="16916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 dataset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3090672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0" y="3200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326880" y="309067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churn rate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223760" y="4489704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0" y="45994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326880" y="4489704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AUC-ROC goal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F7FBB932-AFE0-05F4-B725-8D9BD8733D46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Header"/>
          <p:cNvSpPr/>
          <p:nvPr/>
        </p:nvSpPr>
        <p:spPr>
          <a:xfrm>
            <a:off x="251307" y="-52754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rial"/>
              </a:rPr>
              <a:t>Telco Churn Analytics</a:t>
            </a:r>
          </a:p>
        </p:txBody>
      </p:sp>
      <p:sp>
        <p:nvSpPr>
          <p:cNvPr id="2" name="Text 0"/>
          <p:cNvSpPr/>
          <p:nvPr/>
        </p:nvSpPr>
        <p:spPr>
          <a:xfrm>
            <a:off x="536531" y="1022299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2940" y="1417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/ Kaggle Telco Customer Churn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2154" cy="2468880"/>
          </a:xfrm>
          <a:prstGeom prst="roundRect">
            <a:avLst>
              <a:gd name="adj" fmla="val 2963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29677" y="2103120"/>
            <a:ext cx="640080" cy="640080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098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236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SeniorCitizen, Partner, Dependents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79394" y="1828800"/>
            <a:ext cx="2602154" cy="2468880"/>
          </a:xfrm>
          <a:prstGeom prst="roundRect">
            <a:avLst>
              <a:gd name="adj" fmla="val 2963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60431" y="2103120"/>
            <a:ext cx="640080" cy="640080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FaChartB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852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6554" y="292608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Metrics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2274" y="3383280"/>
            <a:ext cx="2236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 type, payment method, charges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0148" y="1828800"/>
            <a:ext cx="2602154" cy="2468880"/>
          </a:xfrm>
          <a:prstGeom prst="roundRect">
            <a:avLst>
              <a:gd name="adj" fmla="val 2963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91185" y="2103120"/>
            <a:ext cx="640080" cy="640080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FaNetworkWire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605" y="2269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7308" y="292608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93028" y="3383280"/>
            <a:ext cx="2236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internet, security, streaming add-ons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40901" y="1828800"/>
            <a:ext cx="2602154" cy="2468880"/>
          </a:xfrm>
          <a:prstGeom prst="roundRect">
            <a:avLst>
              <a:gd name="adj" fmla="val 2963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021938" y="2103120"/>
            <a:ext cx="640080" cy="640080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FaExclamationTriang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359" y="22695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8061" y="292608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23781" y="3383280"/>
            <a:ext cx="2236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(Yes/No) — 73.5% / 26.5% split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6177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r>
              <a:rPr lang="en-US" sz="14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rows  ×  </a:t>
            </a: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r>
              <a:rPr lang="en-US" sz="14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columns   |   </a:t>
            </a: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r>
              <a:rPr lang="en-US" sz="14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duplicate rows removed   |   </a:t>
            </a: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14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blank charges imputed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Footer">
            <a:extLst>
              <a:ext uri="{FF2B5EF4-FFF2-40B4-BE49-F238E27FC236}">
                <a16:creationId xmlns:a16="http://schemas.microsoft.com/office/drawing/2014/main" id="{DAAA2FF3-9959-D41B-E216-13481FAF01BF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to a monitored, batch-scoring production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5108" y="2286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Fa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16" y="2450592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10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75108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29588" y="22860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232508" y="2286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Fa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716" y="2450592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3250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232508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Features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786988" y="22860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4289908" y="2286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Fa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116" y="2450592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8990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289908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844388" y="22860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6347308" y="2286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4A2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s/FaBalanceSca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516" y="2450592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4730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347308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901788" y="22860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8404708" y="2286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icons/FaServ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5916" y="2450592"/>
            <a:ext cx="512064" cy="5120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40470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404708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959188" y="22860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10462108" y="2286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5" descr="icons/FaSyncA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3316" y="2450592"/>
            <a:ext cx="512064" cy="5120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46210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10462108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2003908" y="3977640"/>
            <a:ext cx="9738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drift / new data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4572000"/>
            <a:ext cx="34238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48640" y="4919472"/>
            <a:ext cx="34238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(raw / processed / model artifacts), encrypted at rest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4246778" y="4572000"/>
            <a:ext cx="34238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4246778" y="4919472"/>
            <a:ext cx="34238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on EC2; parallel SageMaker implementation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7944917" y="4572000"/>
            <a:ext cx="34238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7944917" y="4919472"/>
            <a:ext cx="34238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batch service, nightly scoring → Amazon RDS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Footer">
            <a:extLst>
              <a:ext uri="{FF2B5EF4-FFF2-40B4-BE49-F238E27FC236}">
                <a16:creationId xmlns:a16="http://schemas.microsoft.com/office/drawing/2014/main" id="{BAD49429-D5BA-3F72-AF43-DCDCA390C399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Feature Engineering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decisions that preserved signal, not just removed noise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TotalCharges: 11 blanks → imputed as 0.0 (zero-tenure customers, not missing data)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duplicate rows dropped (found by comparing rows excluding customerID)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Yes/No fields + gender encoded to 0/1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 (and why they mattered)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tenure_group — 4 lifecycle buckets (0–12, 13–24, 25–48, 49–72 mo.)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has_support_services — flags OnlineSecurity OR TechSupport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num_services — count of subscribed add-ons (0–8)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Real Churn Rates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services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3544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9556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182112"/>
            <a:ext cx="4709160" cy="0"/>
          </a:xfrm>
          <a:prstGeom prst="line">
            <a:avLst/>
          </a:prstGeom>
          <a:noFill/>
          <a:ln w="6350">
            <a:solidFill>
              <a:srgbClr val="1693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support 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3544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9556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959352"/>
            <a:ext cx="4709160" cy="0"/>
          </a:xfrm>
          <a:prstGeom prst="line">
            <a:avLst/>
          </a:prstGeom>
          <a:noFill/>
          <a:ln w="6350">
            <a:solidFill>
              <a:srgbClr val="1693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0–12 months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195560" y="4023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4736592"/>
            <a:ext cx="4709160" cy="0"/>
          </a:xfrm>
          <a:prstGeom prst="line">
            <a:avLst/>
          </a:prstGeom>
          <a:noFill/>
          <a:ln w="6350">
            <a:solidFill>
              <a:srgbClr val="1693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4800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49–72 months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4800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195560" y="4800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Footer">
            <a:extLst>
              <a:ext uri="{FF2B5EF4-FFF2-40B4-BE49-F238E27FC236}">
                <a16:creationId xmlns:a16="http://schemas.microsoft.com/office/drawing/2014/main" id="{14D4A683-4023-B550-7628-92DAE96A147C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Selection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candidates, trained and compared under identical conditions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035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737360"/>
            <a:ext cx="4709160" cy="4114800"/>
          </a:xfrm>
          <a:prstGeom prst="roundRect">
            <a:avLst>
              <a:gd name="adj" fmla="val 2222"/>
            </a:avLst>
          </a:prstGeom>
          <a:solidFill>
            <a:srgbClr val="F4A2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223760" y="2011680"/>
            <a:ext cx="594360" cy="594360"/>
          </a:xfrm>
          <a:prstGeom prst="ellipse">
            <a:avLst/>
          </a:prstGeom>
          <a:solidFill>
            <a:srgbClr val="C9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FaExclamationTriang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294" y="21662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0" y="2057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Surprising Finding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223760" y="2834640"/>
            <a:ext cx="4069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beat both tree ensembles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original hypothesis favored Random Forest for handling mixed data types. Instead, the simplest model won — evidence that churn here is driven by a few strong, near-linear signals (contract type, tenure), not complex feature interactions.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F570CE85-D1A3-4718-EE51-1AF5BD206EFB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Held-Out Test Set Results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evaluated once on data never used for tuning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2154" cy="1554480"/>
          </a:xfrm>
          <a:prstGeom prst="roundRect">
            <a:avLst>
              <a:gd name="adj" fmla="val 5882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93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0.8549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79394" y="1737360"/>
            <a:ext cx="2602154" cy="1554480"/>
          </a:xfrm>
          <a:prstGeom prst="roundRect">
            <a:avLst>
              <a:gd name="adj" fmla="val 5882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79394" y="187452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93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79394" y="269748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0148" y="1737360"/>
            <a:ext cx="2602154" cy="1554480"/>
          </a:xfrm>
          <a:prstGeom prst="roundRect">
            <a:avLst>
              <a:gd name="adj" fmla="val 5882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0148" y="187452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93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0148" y="269748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40901" y="1737360"/>
            <a:ext cx="2602154" cy="1554480"/>
          </a:xfrm>
          <a:prstGeom prst="roundRect">
            <a:avLst>
              <a:gd name="adj" fmla="val 5882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40901" y="187452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40901" y="2697480"/>
            <a:ext cx="260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deliberately prioritized over precision: missing an actual churner (false negative) costs more than an unnecessary retention offer (false positive).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23360" y="4160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(n = 1,054)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51960" y="4572000"/>
            <a:ext cx="1371600" cy="685800"/>
          </a:xfrm>
          <a:prstGeom prst="rect">
            <a:avLst/>
          </a:prstGeom>
          <a:solidFill>
            <a:srgbClr val="F7FAFB"/>
          </a:solidFill>
          <a:ln w="9525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1960" y="45720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4572000"/>
            <a:ext cx="1371600" cy="685800"/>
          </a:xfrm>
          <a:prstGeom prst="rect">
            <a:avLst/>
          </a:prstGeom>
          <a:solidFill>
            <a:srgbClr val="F7FAFB"/>
          </a:solidFill>
          <a:ln w="9525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23560" y="45720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4572000"/>
            <a:ext cx="1371600" cy="685800"/>
          </a:xfrm>
          <a:prstGeom prst="rect">
            <a:avLst/>
          </a:prstGeom>
          <a:solidFill>
            <a:srgbClr val="F7FAFB"/>
          </a:solidFill>
          <a:ln w="9525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95160" y="45720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Yes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5257800"/>
            <a:ext cx="1371600" cy="685800"/>
          </a:xfrm>
          <a:prstGeom prst="rect">
            <a:avLst/>
          </a:prstGeom>
          <a:solidFill>
            <a:srgbClr val="F7FAFB"/>
          </a:solidFill>
          <a:ln w="9525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51960" y="5257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23560" y="5257800"/>
            <a:ext cx="1371600" cy="685800"/>
          </a:xfrm>
          <a:prstGeom prst="rect">
            <a:avLst/>
          </a:prstGeom>
          <a:solidFill>
            <a:srgbClr val="C7E8ED"/>
          </a:solidFill>
          <a:ln w="9525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23560" y="5257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95160" y="5257800"/>
            <a:ext cx="1371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95160" y="5257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251960" y="5943600"/>
            <a:ext cx="1371600" cy="685800"/>
          </a:xfrm>
          <a:prstGeom prst="rect">
            <a:avLst/>
          </a:prstGeom>
          <a:solidFill>
            <a:srgbClr val="F7FAFB"/>
          </a:solidFill>
          <a:ln w="9525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51960" y="5943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Yes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23560" y="5943600"/>
            <a:ext cx="1371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23560" y="5943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95160" y="5943600"/>
            <a:ext cx="1371600" cy="685800"/>
          </a:xfrm>
          <a:prstGeom prst="rect">
            <a:avLst/>
          </a:prstGeom>
          <a:solidFill>
            <a:srgbClr val="C7E8ED"/>
          </a:solidFill>
          <a:ln w="9525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95160" y="5943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8" name="Footer">
            <a:extLst>
              <a:ext uri="{FF2B5EF4-FFF2-40B4-BE49-F238E27FC236}">
                <a16:creationId xmlns:a16="http://schemas.microsoft.com/office/drawing/2014/main" id="{71808602-0D75-01DD-BB2B-A006A9F781F3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Churn Drivers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model coefficients confirm the EDA hypotheses, with real numbers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69164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71AF0ACC-EB56-B149-F97C-62C2CADA99D8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Audit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 evaluation across two sensitive attributes on the held-out test 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23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4C9A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12049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8680" y="2788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4C9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0.0016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868680" y="3685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Difference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 </a:t>
            </a: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42.3%</a:t>
            </a:r>
            <a:r>
              <a:rPr lang="en-US" sz="13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flagged high-risk (female vs male)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disparity. Recall and precision are nearly identical across both groups.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4A2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83680" y="1965960"/>
            <a:ext cx="594360" cy="594360"/>
          </a:xfrm>
          <a:prstGeom prst="ellipse">
            <a:avLst/>
          </a:prstGeom>
          <a:solidFill>
            <a:srgbClr val="C9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icons/FaExclamationTriang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214" y="212049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583680" y="2788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8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0.314</a:t>
            </a:r>
            <a:endParaRPr lang="en-US" sz="4600" dirty="0"/>
          </a:p>
        </p:txBody>
      </p:sp>
      <p:sp>
        <p:nvSpPr>
          <p:cNvPr id="19" name="Text 15"/>
          <p:cNvSpPr/>
          <p:nvPr/>
        </p:nvSpPr>
        <p:spPr>
          <a:xfrm>
            <a:off x="6583680" y="3685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Difference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83680" y="42062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67.9% </a:t>
            </a:r>
            <a:r>
              <a:rPr lang="en-US" sz="130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en-US" sz="1300" b="1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36.5%</a:t>
            </a:r>
            <a:r>
              <a:rPr lang="en-US" sz="130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flagged high-risk (senior vs non-senior)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really do churn more — the model learned a real pattern. But nearly 2× the contact rate raises a fairness question for the business to resolve before this score drives outreach.</a:t>
            </a:r>
            <a:endParaRPr lang="en-US" sz="1300" dirty="0"/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7898A51B-B8CE-687D-7427-BDFD37EFF5FA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Monitoring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inference, chosen deliberately over real-time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Batch, Not Real-Time?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team acts on a daily/weekly cadence, not sub-second — a nightly scoring job is simpler, cheaper, and matches how the business actually uses the score.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Fa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3768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246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batch service on EC2 (t3.medium)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959352"/>
            <a:ext cx="502920" cy="502920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FaSyncA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09011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9593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scoring of the full active customer base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672584"/>
            <a:ext cx="502920" cy="502920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Fa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4803343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6725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to Amazon RDS for the retention team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83680" y="24231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83680" y="27340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+ recall tracked weekly; alert below 0.75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583680" y="32644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583680" y="35753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on tenure, MonthlyCharges, Contract; alert if PSI &gt; 0.2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583680" y="41056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83680" y="4416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CPU/memory; SNS alert on job failure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583680" y="4946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gate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583680" y="5257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must clear 0.80 AUC-ROC before promotion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7" name="Footer">
            <a:extLst>
              <a:ext uri="{FF2B5EF4-FFF2-40B4-BE49-F238E27FC236}">
                <a16:creationId xmlns:a16="http://schemas.microsoft.com/office/drawing/2014/main" id="{1B23ADC8-2E51-70E8-60E0-766A5AE0671A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heme Header Band">
            <a:extLst>
              <a:ext uri="{FF2B5EF4-FFF2-40B4-BE49-F238E27FC236}">
                <a16:creationId xmlns:a16="http://schemas.microsoft.com/office/drawing/2014/main" id="{F73FF309-DA99-C984-B2E9-A03EE6FC47EE}"/>
              </a:ext>
            </a:extLst>
          </p:cNvPr>
          <p:cNvSpPr/>
          <p:nvPr/>
        </p:nvSpPr>
        <p:spPr>
          <a:xfrm>
            <a:off x="0" y="0"/>
            <a:ext cx="12192000" cy="14500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 0">
            <a:extLst>
              <a:ext uri="{FF2B5EF4-FFF2-40B4-BE49-F238E27FC236}">
                <a16:creationId xmlns:a16="http://schemas.microsoft.com/office/drawing/2014/main" id="{D3322A39-A2F6-74E0-AFBD-C65A92422CAD}"/>
              </a:ext>
            </a:extLst>
          </p:cNvPr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3000" dirty="0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0F7B7B9D-8B9B-7EBA-4370-109F58FF2CB4}"/>
              </a:ext>
            </a:extLst>
          </p:cNvPr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automated gates, GitHub Actions — triggered on every push to main</a:t>
            </a:r>
            <a:endParaRPr lang="en-US" sz="1400" dirty="0"/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E26A0001-F3BC-F258-B503-19751C2D82D9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151F8D9D-709C-EF3E-D1E0-923C31CE7F5C}"/>
              </a:ext>
            </a:extLst>
          </p:cNvPr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38BA07-F7CF-4C87-4E31-CD6693CE4115}"/>
              </a:ext>
            </a:extLst>
          </p:cNvPr>
          <p:cNvSpPr txBox="1"/>
          <p:nvPr/>
        </p:nvSpPr>
        <p:spPr>
          <a:xfrm>
            <a:off x="548640" y="1560000"/>
            <a:ext cx="1109441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dirty="0">
                <a:solidFill>
                  <a:srgbClr val="16242B"/>
                </a:solidFill>
                <a:latin typeface="Calibri"/>
              </a:rPr>
              <a:t>This project's requirement was to deliver both a self-contained local implementation and a fully managed AWS implementation — so the pipeline below runs as </a:t>
            </a:r>
            <a:r>
              <a:rPr sz="1300" b="1" dirty="0">
                <a:solidFill>
                  <a:srgbClr val="16242B"/>
                </a:solidFill>
                <a:latin typeface="Calibri"/>
              </a:rPr>
              <a:t>two independent, parallel tracks that validate each other's results.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AD3DED-45DF-AF7F-7E67-266E1D89FDD2}"/>
              </a:ext>
            </a:extLst>
          </p:cNvPr>
          <p:cNvSpPr txBox="1"/>
          <p:nvPr/>
        </p:nvSpPr>
        <p:spPr>
          <a:xfrm>
            <a:off x="325984" y="21900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2256"/>
                </a:solidFill>
                <a:latin typeface="Calibri"/>
              </a:rPr>
              <a:t>LOCAL  —  GITHUB ACTIONS  (8 GATES)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0182806-02C0-DED0-2585-03B73F32752E}"/>
              </a:ext>
            </a:extLst>
          </p:cNvPr>
          <p:cNvSpPr/>
          <p:nvPr/>
        </p:nvSpPr>
        <p:spPr>
          <a:xfrm>
            <a:off x="325984" y="247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46397A-5C57-BB77-A603-D36777F46248}"/>
              </a:ext>
            </a:extLst>
          </p:cNvPr>
          <p:cNvSpPr txBox="1"/>
          <p:nvPr/>
        </p:nvSpPr>
        <p:spPr>
          <a:xfrm>
            <a:off x="325984" y="253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509D34-0C18-0024-41F8-371D74A7728B}"/>
              </a:ext>
            </a:extLst>
          </p:cNvPr>
          <p:cNvSpPr txBox="1"/>
          <p:nvPr/>
        </p:nvSpPr>
        <p:spPr>
          <a:xfrm>
            <a:off x="371429" y="275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Lint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334FBA-0FE9-3661-0963-587219816CAE}"/>
              </a:ext>
            </a:extLst>
          </p:cNvPr>
          <p:cNvSpPr txBox="1"/>
          <p:nvPr/>
        </p:nvSpPr>
        <p:spPr>
          <a:xfrm>
            <a:off x="1624432" y="247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509ECA4-4DA5-163B-8738-9F0DB37472E6}"/>
              </a:ext>
            </a:extLst>
          </p:cNvPr>
          <p:cNvSpPr/>
          <p:nvPr/>
        </p:nvSpPr>
        <p:spPr>
          <a:xfrm>
            <a:off x="1825600" y="247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5678F45-8179-D8A1-4720-CD55D0DA1643}"/>
              </a:ext>
            </a:extLst>
          </p:cNvPr>
          <p:cNvSpPr txBox="1"/>
          <p:nvPr/>
        </p:nvSpPr>
        <p:spPr>
          <a:xfrm>
            <a:off x="1825600" y="253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9A999D-84FF-2E93-C39C-B652F2638EC9}"/>
              </a:ext>
            </a:extLst>
          </p:cNvPr>
          <p:cNvSpPr txBox="1"/>
          <p:nvPr/>
        </p:nvSpPr>
        <p:spPr>
          <a:xfrm>
            <a:off x="1871045" y="275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F0174A-BD7F-4C79-18CA-109ED23E678E}"/>
              </a:ext>
            </a:extLst>
          </p:cNvPr>
          <p:cNvSpPr txBox="1"/>
          <p:nvPr/>
        </p:nvSpPr>
        <p:spPr>
          <a:xfrm>
            <a:off x="3124048" y="247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C26A241-E873-F8CA-49F4-E806C384AC75}"/>
              </a:ext>
            </a:extLst>
          </p:cNvPr>
          <p:cNvSpPr/>
          <p:nvPr/>
        </p:nvSpPr>
        <p:spPr>
          <a:xfrm>
            <a:off x="3325216" y="247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5A30C2-1969-4209-2793-D845E4F7D2C1}"/>
              </a:ext>
            </a:extLst>
          </p:cNvPr>
          <p:cNvSpPr txBox="1"/>
          <p:nvPr/>
        </p:nvSpPr>
        <p:spPr>
          <a:xfrm>
            <a:off x="3325216" y="253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CA77D-0C02-3575-71AC-DD967D9A4B5F}"/>
              </a:ext>
            </a:extLst>
          </p:cNvPr>
          <p:cNvSpPr txBox="1"/>
          <p:nvPr/>
        </p:nvSpPr>
        <p:spPr>
          <a:xfrm>
            <a:off x="3370661" y="275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Unit Tests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AF2AE9-6747-0603-C81E-F7A71D61D10D}"/>
              </a:ext>
            </a:extLst>
          </p:cNvPr>
          <p:cNvSpPr txBox="1"/>
          <p:nvPr/>
        </p:nvSpPr>
        <p:spPr>
          <a:xfrm>
            <a:off x="4623664" y="247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2ADCB84D-903A-258B-86CD-40A42BFAEEE9}"/>
              </a:ext>
            </a:extLst>
          </p:cNvPr>
          <p:cNvSpPr/>
          <p:nvPr/>
        </p:nvSpPr>
        <p:spPr>
          <a:xfrm>
            <a:off x="4824832" y="247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993DCD-85AF-0B7A-4FAD-DA23321887E9}"/>
              </a:ext>
            </a:extLst>
          </p:cNvPr>
          <p:cNvSpPr txBox="1"/>
          <p:nvPr/>
        </p:nvSpPr>
        <p:spPr>
          <a:xfrm>
            <a:off x="4824832" y="253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2C7481-86E3-3306-04A1-A652F9892C23}"/>
              </a:ext>
            </a:extLst>
          </p:cNvPr>
          <p:cNvSpPr txBox="1"/>
          <p:nvPr/>
        </p:nvSpPr>
        <p:spPr>
          <a:xfrm>
            <a:off x="4870277" y="275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455EE7-23BE-BAA9-B94D-8516D2BC9F7B}"/>
              </a:ext>
            </a:extLst>
          </p:cNvPr>
          <p:cNvSpPr txBox="1"/>
          <p:nvPr/>
        </p:nvSpPr>
        <p:spPr>
          <a:xfrm>
            <a:off x="6123280" y="247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1024" name="Rounded Rectangle 1023">
            <a:extLst>
              <a:ext uri="{FF2B5EF4-FFF2-40B4-BE49-F238E27FC236}">
                <a16:creationId xmlns:a16="http://schemas.microsoft.com/office/drawing/2014/main" id="{36CCE97F-40CF-948C-198A-D0AAEA084C95}"/>
              </a:ext>
            </a:extLst>
          </p:cNvPr>
          <p:cNvSpPr/>
          <p:nvPr/>
        </p:nvSpPr>
        <p:spPr>
          <a:xfrm>
            <a:off x="6324448" y="247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F4A261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0010B26D-457B-2BE8-3A27-78949F196AA4}"/>
              </a:ext>
            </a:extLst>
          </p:cNvPr>
          <p:cNvSpPr txBox="1"/>
          <p:nvPr/>
        </p:nvSpPr>
        <p:spPr>
          <a:xfrm>
            <a:off x="6324448" y="253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02256"/>
                </a:solidFill>
                <a:latin typeface="Cambria"/>
              </a:rPr>
              <a:t>5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41DC2087-4888-872F-7217-D5E746E988DE}"/>
              </a:ext>
            </a:extLst>
          </p:cNvPr>
          <p:cNvSpPr txBox="1"/>
          <p:nvPr/>
        </p:nvSpPr>
        <p:spPr>
          <a:xfrm>
            <a:off x="6369893" y="275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Eval Gate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(AUC≥0.80)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8461EE8A-AAB3-36C2-482B-A432857EE40F}"/>
              </a:ext>
            </a:extLst>
          </p:cNvPr>
          <p:cNvSpPr txBox="1"/>
          <p:nvPr/>
        </p:nvSpPr>
        <p:spPr>
          <a:xfrm>
            <a:off x="7622896" y="247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1028" name="Rounded Rectangle 1027">
            <a:extLst>
              <a:ext uri="{FF2B5EF4-FFF2-40B4-BE49-F238E27FC236}">
                <a16:creationId xmlns:a16="http://schemas.microsoft.com/office/drawing/2014/main" id="{0E80F7A1-DCAB-4999-5550-AAE8249CE347}"/>
              </a:ext>
            </a:extLst>
          </p:cNvPr>
          <p:cNvSpPr/>
          <p:nvPr/>
        </p:nvSpPr>
        <p:spPr>
          <a:xfrm>
            <a:off x="7824064" y="247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F4A261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8CF17EB9-34DE-1F8D-58E3-36BC0FBEF2DE}"/>
              </a:ext>
            </a:extLst>
          </p:cNvPr>
          <p:cNvSpPr txBox="1"/>
          <p:nvPr/>
        </p:nvSpPr>
        <p:spPr>
          <a:xfrm>
            <a:off x="7824064" y="253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02256"/>
                </a:solidFill>
                <a:latin typeface="Cambria"/>
              </a:rPr>
              <a:t>6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2BC015D6-2312-B275-1D19-9DEA05138887}"/>
              </a:ext>
            </a:extLst>
          </p:cNvPr>
          <p:cNvSpPr txBox="1"/>
          <p:nvPr/>
        </p:nvSpPr>
        <p:spPr>
          <a:xfrm>
            <a:off x="7869509" y="275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Fairness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D963D35E-E3AB-134A-8E57-6E254FEC014E}"/>
              </a:ext>
            </a:extLst>
          </p:cNvPr>
          <p:cNvSpPr txBox="1"/>
          <p:nvPr/>
        </p:nvSpPr>
        <p:spPr>
          <a:xfrm>
            <a:off x="9122512" y="247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1032" name="Rounded Rectangle 1031">
            <a:extLst>
              <a:ext uri="{FF2B5EF4-FFF2-40B4-BE49-F238E27FC236}">
                <a16:creationId xmlns:a16="http://schemas.microsoft.com/office/drawing/2014/main" id="{26953B50-1D44-E618-16C3-53D8830B3F52}"/>
              </a:ext>
            </a:extLst>
          </p:cNvPr>
          <p:cNvSpPr/>
          <p:nvPr/>
        </p:nvSpPr>
        <p:spPr>
          <a:xfrm>
            <a:off x="9323680" y="247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F8172239-9B07-FA26-819C-13005E5D32EF}"/>
              </a:ext>
            </a:extLst>
          </p:cNvPr>
          <p:cNvSpPr txBox="1"/>
          <p:nvPr/>
        </p:nvSpPr>
        <p:spPr>
          <a:xfrm>
            <a:off x="9323680" y="253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7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DEF62477-97E4-DCDD-1EC2-70EB7B4FD090}"/>
              </a:ext>
            </a:extLst>
          </p:cNvPr>
          <p:cNvSpPr txBox="1"/>
          <p:nvPr/>
        </p:nvSpPr>
        <p:spPr>
          <a:xfrm>
            <a:off x="9369125" y="275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Staging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D2A3468-131C-623A-5FA5-C0B3964593F4}"/>
              </a:ext>
            </a:extLst>
          </p:cNvPr>
          <p:cNvSpPr txBox="1"/>
          <p:nvPr/>
        </p:nvSpPr>
        <p:spPr>
          <a:xfrm>
            <a:off x="10622128" y="247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1036" name="Rounded Rectangle 1035">
            <a:extLst>
              <a:ext uri="{FF2B5EF4-FFF2-40B4-BE49-F238E27FC236}">
                <a16:creationId xmlns:a16="http://schemas.microsoft.com/office/drawing/2014/main" id="{6BD60674-4453-4160-13CC-42BA228B6896}"/>
              </a:ext>
            </a:extLst>
          </p:cNvPr>
          <p:cNvSpPr/>
          <p:nvPr/>
        </p:nvSpPr>
        <p:spPr>
          <a:xfrm>
            <a:off x="10823296" y="247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89670266-CFEC-4FF0-D548-895FEC0B4580}"/>
              </a:ext>
            </a:extLst>
          </p:cNvPr>
          <p:cNvSpPr txBox="1"/>
          <p:nvPr/>
        </p:nvSpPr>
        <p:spPr>
          <a:xfrm>
            <a:off x="10823296" y="253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8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9DAD5CEB-A817-905E-2616-D5A3EC13FCA1}"/>
              </a:ext>
            </a:extLst>
          </p:cNvPr>
          <p:cNvSpPr txBox="1"/>
          <p:nvPr/>
        </p:nvSpPr>
        <p:spPr>
          <a:xfrm>
            <a:off x="10868741" y="275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Production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Promotion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D4095A54-07D0-5637-8A3F-11B6E18C32E7}"/>
              </a:ext>
            </a:extLst>
          </p:cNvPr>
          <p:cNvSpPr txBox="1"/>
          <p:nvPr/>
        </p:nvSpPr>
        <p:spPr>
          <a:xfrm>
            <a:off x="325984" y="3500000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002256"/>
                </a:solidFill>
                <a:latin typeface="Calibri"/>
              </a:rPr>
              <a:t>AWS  —  SAGEMAKER PIPELINE  (5-STEP DAG)</a:t>
            </a:r>
          </a:p>
        </p:txBody>
      </p:sp>
      <p:sp>
        <p:nvSpPr>
          <p:cNvPr id="1041" name="Rounded Rectangle 1040">
            <a:extLst>
              <a:ext uri="{FF2B5EF4-FFF2-40B4-BE49-F238E27FC236}">
                <a16:creationId xmlns:a16="http://schemas.microsoft.com/office/drawing/2014/main" id="{2B8BE551-D823-A865-7A65-0D4AA0F1D5FF}"/>
              </a:ext>
            </a:extLst>
          </p:cNvPr>
          <p:cNvSpPr/>
          <p:nvPr/>
        </p:nvSpPr>
        <p:spPr>
          <a:xfrm>
            <a:off x="325984" y="378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B22B6B10-3DF1-5BA8-BFE5-D805C7324105}"/>
              </a:ext>
            </a:extLst>
          </p:cNvPr>
          <p:cNvSpPr txBox="1"/>
          <p:nvPr/>
        </p:nvSpPr>
        <p:spPr>
          <a:xfrm>
            <a:off x="325984" y="384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1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CB65E0C-6BFA-3FD3-0593-CE0897BDCF17}"/>
              </a:ext>
            </a:extLst>
          </p:cNvPr>
          <p:cNvSpPr txBox="1"/>
          <p:nvPr/>
        </p:nvSpPr>
        <p:spPr>
          <a:xfrm>
            <a:off x="371429" y="406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dirty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A7DDDB-CAAC-BC88-E02A-4E04C79666BA}"/>
              </a:ext>
            </a:extLst>
          </p:cNvPr>
          <p:cNvSpPr txBox="1"/>
          <p:nvPr/>
        </p:nvSpPr>
        <p:spPr>
          <a:xfrm>
            <a:off x="1624432" y="378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1045" name="Rounded Rectangle 1044">
            <a:extLst>
              <a:ext uri="{FF2B5EF4-FFF2-40B4-BE49-F238E27FC236}">
                <a16:creationId xmlns:a16="http://schemas.microsoft.com/office/drawing/2014/main" id="{6A6EF713-C95B-2FF1-51A5-F5243D8C27EA}"/>
              </a:ext>
            </a:extLst>
          </p:cNvPr>
          <p:cNvSpPr/>
          <p:nvPr/>
        </p:nvSpPr>
        <p:spPr>
          <a:xfrm>
            <a:off x="1825600" y="378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F2B9D0B-BE76-3B19-E63A-5E6E0E5D58B2}"/>
              </a:ext>
            </a:extLst>
          </p:cNvPr>
          <p:cNvSpPr txBox="1"/>
          <p:nvPr/>
        </p:nvSpPr>
        <p:spPr>
          <a:xfrm>
            <a:off x="1825600" y="384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2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FF675984-B660-0E0F-F091-D80A980DB190}"/>
              </a:ext>
            </a:extLst>
          </p:cNvPr>
          <p:cNvSpPr txBox="1"/>
          <p:nvPr/>
        </p:nvSpPr>
        <p:spPr>
          <a:xfrm>
            <a:off x="1871045" y="406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91790494-07D8-3FF3-A973-93D1DACF8374}"/>
              </a:ext>
            </a:extLst>
          </p:cNvPr>
          <p:cNvSpPr txBox="1"/>
          <p:nvPr/>
        </p:nvSpPr>
        <p:spPr>
          <a:xfrm>
            <a:off x="3124048" y="378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1049" name="Rounded Rectangle 1048">
            <a:extLst>
              <a:ext uri="{FF2B5EF4-FFF2-40B4-BE49-F238E27FC236}">
                <a16:creationId xmlns:a16="http://schemas.microsoft.com/office/drawing/2014/main" id="{7781C49A-A8D2-30E5-8F59-7B6B7F92F141}"/>
              </a:ext>
            </a:extLst>
          </p:cNvPr>
          <p:cNvSpPr/>
          <p:nvPr/>
        </p:nvSpPr>
        <p:spPr>
          <a:xfrm>
            <a:off x="3325216" y="378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F4A261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C9A84D40-5050-58DA-E36A-190BA6992654}"/>
              </a:ext>
            </a:extLst>
          </p:cNvPr>
          <p:cNvSpPr txBox="1"/>
          <p:nvPr/>
        </p:nvSpPr>
        <p:spPr>
          <a:xfrm>
            <a:off x="3325216" y="384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02256"/>
                </a:solidFill>
                <a:latin typeface="Cambria"/>
              </a:rPr>
              <a:t>3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AFCBDDAA-A06D-DABC-7B2F-DDA79CDFA3C0}"/>
              </a:ext>
            </a:extLst>
          </p:cNvPr>
          <p:cNvSpPr txBox="1"/>
          <p:nvPr/>
        </p:nvSpPr>
        <p:spPr>
          <a:xfrm>
            <a:off x="3370661" y="406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Evaluate +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Fairness Audit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38E499E8-81A1-8097-237E-0EBE2149A2C8}"/>
              </a:ext>
            </a:extLst>
          </p:cNvPr>
          <p:cNvSpPr txBox="1"/>
          <p:nvPr/>
        </p:nvSpPr>
        <p:spPr>
          <a:xfrm>
            <a:off x="4623664" y="378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1053" name="Rounded Rectangle 1052">
            <a:extLst>
              <a:ext uri="{FF2B5EF4-FFF2-40B4-BE49-F238E27FC236}">
                <a16:creationId xmlns:a16="http://schemas.microsoft.com/office/drawing/2014/main" id="{DDFA59DE-370B-4EFD-E8D7-E2712C520EBB}"/>
              </a:ext>
            </a:extLst>
          </p:cNvPr>
          <p:cNvSpPr/>
          <p:nvPr/>
        </p:nvSpPr>
        <p:spPr>
          <a:xfrm>
            <a:off x="4824832" y="378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5365DC-DC5E-C086-C3ED-D7B786697EE8}"/>
              </a:ext>
            </a:extLst>
          </p:cNvPr>
          <p:cNvSpPr txBox="1"/>
          <p:nvPr/>
        </p:nvSpPr>
        <p:spPr>
          <a:xfrm>
            <a:off x="4824832" y="384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4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5AC256A8-7711-57E9-0162-CD31A9AC1D68}"/>
              </a:ext>
            </a:extLst>
          </p:cNvPr>
          <p:cNvSpPr txBox="1"/>
          <p:nvPr/>
        </p:nvSpPr>
        <p:spPr>
          <a:xfrm>
            <a:off x="4870277" y="406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D653855E-9FD5-C831-2D14-668BB759BB4B}"/>
              </a:ext>
            </a:extLst>
          </p:cNvPr>
          <p:cNvSpPr txBox="1"/>
          <p:nvPr/>
        </p:nvSpPr>
        <p:spPr>
          <a:xfrm>
            <a:off x="6123280" y="3780000"/>
            <a:ext cx="201168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B7C8D"/>
                </a:solidFill>
                <a:latin typeface="Calibri"/>
              </a:rPr>
              <a:t>→</a:t>
            </a:r>
          </a:p>
        </p:txBody>
      </p:sp>
      <p:sp>
        <p:nvSpPr>
          <p:cNvPr id="1057" name="Rounded Rectangle 1056">
            <a:extLst>
              <a:ext uri="{FF2B5EF4-FFF2-40B4-BE49-F238E27FC236}">
                <a16:creationId xmlns:a16="http://schemas.microsoft.com/office/drawing/2014/main" id="{690A1DAC-347B-94FC-4A86-3F0A7E722FF8}"/>
              </a:ext>
            </a:extLst>
          </p:cNvPr>
          <p:cNvSpPr/>
          <p:nvPr/>
        </p:nvSpPr>
        <p:spPr>
          <a:xfrm>
            <a:off x="6324448" y="3780000"/>
            <a:ext cx="1298448" cy="800000"/>
          </a:xfrm>
          <a:prstGeom prst="roundRect">
            <a:avLst>
              <a:gd name="adj" fmla="val 9000"/>
            </a:avLst>
          </a:prstGeom>
          <a:solidFill>
            <a:srgbClr val="002256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5B45AFB3-BE15-B506-E4C8-A6B4CF85AE66}"/>
              </a:ext>
            </a:extLst>
          </p:cNvPr>
          <p:cNvSpPr txBox="1"/>
          <p:nvPr/>
        </p:nvSpPr>
        <p:spPr>
          <a:xfrm>
            <a:off x="6324448" y="3844000"/>
            <a:ext cx="1298448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7E8ED"/>
                </a:solidFill>
                <a:latin typeface="Cambria"/>
              </a:rPr>
              <a:t>5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723FEE72-139A-B0D5-8CCF-F4B2EDBE41A0}"/>
              </a:ext>
            </a:extLst>
          </p:cNvPr>
          <p:cNvSpPr txBox="1"/>
          <p:nvPr/>
        </p:nvSpPr>
        <p:spPr>
          <a:xfrm>
            <a:off x="6369893" y="4068000"/>
            <a:ext cx="1207557" cy="4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Register +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83DAE8A1-4CF4-B6DB-4128-EB5096D81461}"/>
              </a:ext>
            </a:extLst>
          </p:cNvPr>
          <p:cNvSpPr txBox="1"/>
          <p:nvPr/>
        </p:nvSpPr>
        <p:spPr>
          <a:xfrm>
            <a:off x="548640" y="4720000"/>
            <a:ext cx="11094415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16242B"/>
                </a:solidFill>
                <a:latin typeface="Calibri"/>
              </a:rPr>
              <a:t>Why a separate Fairness Audit gate? </a:t>
            </a:r>
            <a:r>
              <a:rPr sz="1350" b="0">
                <a:solidFill>
                  <a:srgbClr val="16242B"/>
                </a:solidFill>
                <a:latin typeface="Calibri"/>
              </a:rPr>
              <a:t>The SeniorCitizen disparity found in this project is a judgment call, not a simple pass/fail threshold — making it a visible, always-produced pipeline artifact in both tracks ensures a human reviews it on every model promotion, rather than letting it silently pass inside a broader step.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Header"/>
          <p:cNvSpPr/>
          <p:nvPr/>
        </p:nvSpPr>
        <p:spPr>
          <a:xfrm>
            <a:off x="0" y="62179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SageMaker Implementation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pipeline, ported to managed AWS infrastructure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Architectures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Notebook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boto3/SDK calls — train, batch transform, fairness audit, Model Registry, Model Card. Best for a live demo.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7FA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0416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5-step managed DAG (Process → Train → Evaluate + Fairness Audit → Condition → Register + Transform) for repeatable, automated runs.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16916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Transform I/O Filtering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input_filter="$[1:]"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customerID before scoring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2715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join_source="Input"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0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reattach prediction to the original row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32826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output_filter="$[0,-1]"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32826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just customerID + probability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0B3D5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4C9A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icons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99" y="4154119"/>
            <a:ext cx="241402" cy="24140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78040" y="4041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Finding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492240" y="45720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XGBoost on SageMaker reproduced the same fairness pattern as the local Logistic Regression: gender ≈0.005, SeniorCitizen ≈0.25 — different model, same real finding.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5" name="Footer">
            <a:extLst>
              <a:ext uri="{FF2B5EF4-FFF2-40B4-BE49-F238E27FC236}">
                <a16:creationId xmlns:a16="http://schemas.microsoft.com/office/drawing/2014/main" id="{7A61006C-03CD-1418-3F2F-3DF6FAAF73E8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Ethics &amp; What's Next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today's gaps, deliberate about tomorrow's 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Checklist</a:t>
            </a:r>
            <a:endParaRPr lang="en-US" sz="1600" dirty="0"/>
          </a:p>
        </p:txBody>
      </p:sp>
      <p:pic>
        <p:nvPicPr>
          <p:cNvPr id="5" name="Image 0" descr="icons/Fa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7627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PHI: No health data in this system</a:t>
            </a:r>
            <a:endParaRPr lang="en-US" sz="1250" dirty="0"/>
          </a:p>
        </p:txBody>
      </p:sp>
      <p:pic>
        <p:nvPicPr>
          <p:cNvPr id="7" name="Image 1" descr="icons/FaExclamationTriangl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4320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715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 Yes — customerID dropped before training</a:t>
            </a:r>
            <a:endParaRPr lang="en-US" sz="1250" dirty="0"/>
          </a:p>
        </p:txBody>
      </p:sp>
      <p:pic>
        <p:nvPicPr>
          <p:cNvPr id="9" name="Image 2" descr="icons/Fa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0128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32826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data: Not stored or processed</a:t>
            </a:r>
            <a:endParaRPr lang="en-US" sz="1250" dirty="0"/>
          </a:p>
        </p:txBody>
      </p:sp>
      <p:pic>
        <p:nvPicPr>
          <p:cNvPr id="11" name="Image 3" descr="icons/FaExclamationTriangl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77056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38496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features: gender, SeniorCitizen used as inputs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548640" y="4572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48640" y="49377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Fairness-constrained retraining  ·  SHAP for tree models  ·  Real-time scoring API  ·  A/B test for true business lift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A2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6583680" y="1965960"/>
            <a:ext cx="594360" cy="594360"/>
          </a:xfrm>
          <a:prstGeom prst="ellipse">
            <a:avLst/>
          </a:prstGeom>
          <a:solidFill>
            <a:srgbClr val="C9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icons/FaBalance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214" y="2120494"/>
            <a:ext cx="285293" cy="28529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15200" y="19933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Ethical Question We're Leaving Open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583680" y="278892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churn scores drive retention outreach, senior citizens get contacted nearly 2× as often as non-seniors under this model.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appropriately responsive to real risk — or disparate treatment of a protected group?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8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doesn't resolve that question — it surfaces it explicitly for stakeholder review, which we believe is the right call for a model this consequential.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Prediction — AAI-540 Group Project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Footer">
            <a:extLst>
              <a:ext uri="{FF2B5EF4-FFF2-40B4-BE49-F238E27FC236}">
                <a16:creationId xmlns:a16="http://schemas.microsoft.com/office/drawing/2014/main" id="{7E2733BA-6C15-125F-1557-F8555245040F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Heade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25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rial"/>
              </a:rPr>
              <a:t>Telco Churn Analytics</a:t>
            </a:r>
          </a:p>
        </p:txBody>
      </p:sp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806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Goals: Achieved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AUC-ROC ≥ 0.80 — achieved 0.8549 on held-out test data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 identified and validated against real churn rates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Reusable batch inference service + 8-stage CI/CD pipeline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completed — a real finding surfaced, not buried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Parallel SageMaker implementation, cross-validating our results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5669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TeleRetain Analytics  |  AAI-540 Group Project  |  June 2026</a:t>
            </a:r>
            <a:endParaRPr lang="en-US" sz="1100" dirty="0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2A15346E-57EE-5493-8D64-F7684CF0DB42}"/>
              </a:ext>
            </a:extLst>
          </p:cNvPr>
          <p:cNvSpPr/>
          <p:nvPr/>
        </p:nvSpPr>
        <p:spPr>
          <a:xfrm>
            <a:off x="0" y="6543600"/>
            <a:ext cx="12192000" cy="314400"/>
          </a:xfrm>
          <a:prstGeom prst="rect">
            <a:avLst/>
          </a:prstGeom>
          <a:solidFill>
            <a:srgbClr val="00498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/>
              </a:rPr>
              <a:t>University of San Diego  |  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Them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1661</Words>
  <Application>Microsoft Macintosh PowerPoint</Application>
  <PresentationFormat>Widescreen</PresentationFormat>
  <Paragraphs>303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LatoWeb</vt:lpstr>
      <vt:lpstr>Times</vt:lpstr>
      <vt:lpstr>1_Default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Prediction — End-to-End MLOps</dc:title>
  <dc:subject>PptxGenJS Presentation</dc:subject>
  <dc:creator>TeleRetain Analytics</dc:creator>
  <cp:lastModifiedBy>Neha Pandey</cp:lastModifiedBy>
  <cp:revision>2</cp:revision>
  <dcterms:created xsi:type="dcterms:W3CDTF">2026-06-20T10:50:40Z</dcterms:created>
  <dcterms:modified xsi:type="dcterms:W3CDTF">2026-06-21T11:24:48Z</dcterms:modified>
</cp:coreProperties>
</file>